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1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9" r:id="rId15"/>
    <p:sldId id="262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jwal Hirwani" userId="be431683d70c6771" providerId="LiveId" clId="{989C359F-F33B-4DCE-AB7B-2B74581EE93E}"/>
    <pc:docChg chg="undo custSel addSld delSld">
      <pc:chgData name="Ujjwal Hirwani" userId="be431683d70c6771" providerId="LiveId" clId="{989C359F-F33B-4DCE-AB7B-2B74581EE93E}" dt="2025-09-21T09:29:52.172" v="15" actId="47"/>
      <pc:docMkLst>
        <pc:docMk/>
      </pc:docMkLst>
      <pc:sldChg chg="new del">
        <pc:chgData name="Ujjwal Hirwani" userId="be431683d70c6771" providerId="LiveId" clId="{989C359F-F33B-4DCE-AB7B-2B74581EE93E}" dt="2025-09-21T09:29:50.248" v="8" actId="680"/>
        <pc:sldMkLst>
          <pc:docMk/>
          <pc:sldMk cId="167353939" sldId="263"/>
        </pc:sldMkLst>
      </pc:sldChg>
      <pc:sldChg chg="add del">
        <pc:chgData name="Ujjwal Hirwani" userId="be431683d70c6771" providerId="LiveId" clId="{989C359F-F33B-4DCE-AB7B-2B74581EE93E}" dt="2025-09-21T09:29:52.172" v="15" actId="47"/>
        <pc:sldMkLst>
          <pc:docMk/>
          <pc:sldMk cId="2139264427" sldId="263"/>
        </pc:sldMkLst>
      </pc:sldChg>
      <pc:sldChg chg="add del">
        <pc:chgData name="Ujjwal Hirwani" userId="be431683d70c6771" providerId="LiveId" clId="{989C359F-F33B-4DCE-AB7B-2B74581EE93E}" dt="2025-09-21T09:29:51.834" v="14" actId="47"/>
        <pc:sldMkLst>
          <pc:docMk/>
          <pc:sldMk cId="858480831" sldId="264"/>
        </pc:sldMkLst>
      </pc:sldChg>
      <pc:sldChg chg="add del">
        <pc:chgData name="Ujjwal Hirwani" userId="be431683d70c6771" providerId="LiveId" clId="{989C359F-F33B-4DCE-AB7B-2B74581EE93E}" dt="2025-09-21T09:29:51.540" v="13" actId="47"/>
        <pc:sldMkLst>
          <pc:docMk/>
          <pc:sldMk cId="2267802306" sldId="265"/>
        </pc:sldMkLst>
      </pc:sldChg>
      <pc:sldChg chg="add del">
        <pc:chgData name="Ujjwal Hirwani" userId="be431683d70c6771" providerId="LiveId" clId="{989C359F-F33B-4DCE-AB7B-2B74581EE93E}" dt="2025-09-21T09:29:51.236" v="12" actId="47"/>
        <pc:sldMkLst>
          <pc:docMk/>
          <pc:sldMk cId="302901792" sldId="266"/>
        </pc:sldMkLst>
      </pc:sldChg>
      <pc:sldChg chg="add del">
        <pc:chgData name="Ujjwal Hirwani" userId="be431683d70c6771" providerId="LiveId" clId="{989C359F-F33B-4DCE-AB7B-2B74581EE93E}" dt="2025-09-21T09:29:50.955" v="11" actId="47"/>
        <pc:sldMkLst>
          <pc:docMk/>
          <pc:sldMk cId="1015562205" sldId="267"/>
        </pc:sldMkLst>
      </pc:sldChg>
      <pc:sldChg chg="add del">
        <pc:chgData name="Ujjwal Hirwani" userId="be431683d70c6771" providerId="LiveId" clId="{989C359F-F33B-4DCE-AB7B-2B74581EE93E}" dt="2025-09-21T09:29:50.723" v="10" actId="47"/>
        <pc:sldMkLst>
          <pc:docMk/>
          <pc:sldMk cId="3078468025" sldId="268"/>
        </pc:sldMkLst>
      </pc:sldChg>
      <pc:sldChg chg="add del">
        <pc:chgData name="Ujjwal Hirwani" userId="be431683d70c6771" providerId="LiveId" clId="{989C359F-F33B-4DCE-AB7B-2B74581EE93E}" dt="2025-09-21T09:29:50.475" v="9" actId="47"/>
        <pc:sldMkLst>
          <pc:docMk/>
          <pc:sldMk cId="1466706255" sldId="269"/>
        </pc:sldMkLst>
      </pc:sldChg>
    </pc:docChg>
  </pc:docChgLst>
  <pc:docChgLst>
    <pc:chgData name="Ujjwal Hirwani" userId="be431683d70c6771" providerId="LiveId" clId="{CA2F03AA-4606-4F9C-8188-9CE0E03D6AD8}"/>
    <pc:docChg chg="modSld">
      <pc:chgData name="Ujjwal Hirwani" userId="be431683d70c6771" providerId="LiveId" clId="{CA2F03AA-4606-4F9C-8188-9CE0E03D6AD8}" dt="2025-08-10T13:09:38.364" v="13"/>
      <pc:docMkLst>
        <pc:docMk/>
      </pc:docMkLst>
      <pc:sldChg chg="modTransition">
        <pc:chgData name="Ujjwal Hirwani" userId="be431683d70c6771" providerId="LiveId" clId="{CA2F03AA-4606-4F9C-8188-9CE0E03D6AD8}" dt="2025-08-10T13:08:48.739" v="0"/>
        <pc:sldMkLst>
          <pc:docMk/>
          <pc:sldMk cId="1487700712" sldId="256"/>
        </pc:sldMkLst>
      </pc:sldChg>
      <pc:sldChg chg="modTransition">
        <pc:chgData name="Ujjwal Hirwani" userId="be431683d70c6771" providerId="LiveId" clId="{CA2F03AA-4606-4F9C-8188-9CE0E03D6AD8}" dt="2025-08-10T13:08:55.314" v="2"/>
        <pc:sldMkLst>
          <pc:docMk/>
          <pc:sldMk cId="497607547" sldId="258"/>
        </pc:sldMkLst>
      </pc:sldChg>
      <pc:sldChg chg="modTransition">
        <pc:chgData name="Ujjwal Hirwani" userId="be431683d70c6771" providerId="LiveId" clId="{CA2F03AA-4606-4F9C-8188-9CE0E03D6AD8}" dt="2025-08-10T13:09:33.500" v="11"/>
        <pc:sldMkLst>
          <pc:docMk/>
          <pc:sldMk cId="4209322005" sldId="259"/>
        </pc:sldMkLst>
      </pc:sldChg>
      <pc:sldChg chg="modTransition">
        <pc:chgData name="Ujjwal Hirwani" userId="be431683d70c6771" providerId="LiveId" clId="{CA2F03AA-4606-4F9C-8188-9CE0E03D6AD8}" dt="2025-08-10T13:09:38.364" v="13"/>
        <pc:sldMkLst>
          <pc:docMk/>
          <pc:sldMk cId="3501347425" sldId="260"/>
        </pc:sldMkLst>
      </pc:sldChg>
      <pc:sldChg chg="modTransition">
        <pc:chgData name="Ujjwal Hirwani" userId="be431683d70c6771" providerId="LiveId" clId="{CA2F03AA-4606-4F9C-8188-9CE0E03D6AD8}" dt="2025-08-10T13:08:52.002" v="1"/>
        <pc:sldMkLst>
          <pc:docMk/>
          <pc:sldMk cId="1703342593" sldId="261"/>
        </pc:sldMkLst>
      </pc:sldChg>
      <pc:sldChg chg="modTransition">
        <pc:chgData name="Ujjwal Hirwani" userId="be431683d70c6771" providerId="LiveId" clId="{CA2F03AA-4606-4F9C-8188-9CE0E03D6AD8}" dt="2025-08-10T13:09:35.804" v="12"/>
        <pc:sldMkLst>
          <pc:docMk/>
          <pc:sldMk cId="4293953559" sldId="262"/>
        </pc:sldMkLst>
      </pc:sldChg>
      <pc:sldChg chg="modTransition">
        <pc:chgData name="Ujjwal Hirwani" userId="be431683d70c6771" providerId="LiveId" clId="{CA2F03AA-4606-4F9C-8188-9CE0E03D6AD8}" dt="2025-08-10T13:08:57.444" v="3"/>
        <pc:sldMkLst>
          <pc:docMk/>
          <pc:sldMk cId="2139264427" sldId="263"/>
        </pc:sldMkLst>
      </pc:sldChg>
      <pc:sldChg chg="modTransition">
        <pc:chgData name="Ujjwal Hirwani" userId="be431683d70c6771" providerId="LiveId" clId="{CA2F03AA-4606-4F9C-8188-9CE0E03D6AD8}" dt="2025-08-10T13:08:59.605" v="4"/>
        <pc:sldMkLst>
          <pc:docMk/>
          <pc:sldMk cId="858480831" sldId="264"/>
        </pc:sldMkLst>
      </pc:sldChg>
      <pc:sldChg chg="modTransition">
        <pc:chgData name="Ujjwal Hirwani" userId="be431683d70c6771" providerId="LiveId" clId="{CA2F03AA-4606-4F9C-8188-9CE0E03D6AD8}" dt="2025-08-10T13:09:03.132" v="5"/>
        <pc:sldMkLst>
          <pc:docMk/>
          <pc:sldMk cId="2267802306" sldId="265"/>
        </pc:sldMkLst>
      </pc:sldChg>
      <pc:sldChg chg="modTransition">
        <pc:chgData name="Ujjwal Hirwani" userId="be431683d70c6771" providerId="LiveId" clId="{CA2F03AA-4606-4F9C-8188-9CE0E03D6AD8}" dt="2025-08-10T13:09:05.524" v="6"/>
        <pc:sldMkLst>
          <pc:docMk/>
          <pc:sldMk cId="302901792" sldId="266"/>
        </pc:sldMkLst>
      </pc:sldChg>
      <pc:sldChg chg="modTransition">
        <pc:chgData name="Ujjwal Hirwani" userId="be431683d70c6771" providerId="LiveId" clId="{CA2F03AA-4606-4F9C-8188-9CE0E03D6AD8}" dt="2025-08-10T13:09:24.995" v="8"/>
        <pc:sldMkLst>
          <pc:docMk/>
          <pc:sldMk cId="1015562205" sldId="267"/>
        </pc:sldMkLst>
      </pc:sldChg>
      <pc:sldChg chg="modTransition">
        <pc:chgData name="Ujjwal Hirwani" userId="be431683d70c6771" providerId="LiveId" clId="{CA2F03AA-4606-4F9C-8188-9CE0E03D6AD8}" dt="2025-08-10T13:09:28.146" v="9"/>
        <pc:sldMkLst>
          <pc:docMk/>
          <pc:sldMk cId="3078468025" sldId="268"/>
        </pc:sldMkLst>
      </pc:sldChg>
      <pc:sldChg chg="modTransition">
        <pc:chgData name="Ujjwal Hirwani" userId="be431683d70c6771" providerId="LiveId" clId="{CA2F03AA-4606-4F9C-8188-9CE0E03D6AD8}" dt="2025-08-10T13:09:30.524" v="10"/>
        <pc:sldMkLst>
          <pc:docMk/>
          <pc:sldMk cId="1466706255" sldId="26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GDP per Capita Prediction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Modeling key Economic Indicators 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Enhancing Policies and Decision Making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 with solid fill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Economic Indicator Identification </a:t>
          </a:r>
          <a:endParaRPr lang="en-US" b="1" dirty="0"/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Data Sourcing</a:t>
          </a:r>
          <a:endParaRPr lang="en-US" b="1" dirty="0"/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B5CB3088-EBF7-48CC-8539-CD4126CE9BF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Data Cleaning &amp; Feature Scaling</a:t>
          </a:r>
        </a:p>
      </dgm:t>
    </dgm:pt>
    <dgm:pt modelId="{BF060B39-7F86-44BD-A8E6-7B4977B4C703}" type="parTrans" cxnId="{6955B777-9D05-4156-A4D1-7CC7BE526298}">
      <dgm:prSet/>
      <dgm:spPr/>
      <dgm:t>
        <a:bodyPr/>
        <a:lstStyle/>
        <a:p>
          <a:endParaRPr lang="en-IN"/>
        </a:p>
      </dgm:t>
    </dgm:pt>
    <dgm:pt modelId="{0895FB1E-9BDF-44B9-8ACE-BBF16FC11F41}" type="sibTrans" cxnId="{6955B777-9D05-4156-A4D1-7CC7BE526298}">
      <dgm:prSet/>
      <dgm:spPr/>
      <dgm:t>
        <a:bodyPr/>
        <a:lstStyle/>
        <a:p>
          <a:endParaRPr lang="en-IN"/>
        </a:p>
      </dgm:t>
    </dgm:pt>
    <dgm:pt modelId="{E055761B-F9BB-4AAA-BD8D-EE69471ECD9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Exploratory Data Analysis</a:t>
          </a:r>
        </a:p>
      </dgm:t>
    </dgm:pt>
    <dgm:pt modelId="{015542C0-04D9-4AD8-BC1D-02EA320D509D}" type="parTrans" cxnId="{A6D715B4-6611-4006-818C-713484448676}">
      <dgm:prSet/>
      <dgm:spPr/>
      <dgm:t>
        <a:bodyPr/>
        <a:lstStyle/>
        <a:p>
          <a:endParaRPr lang="en-IN"/>
        </a:p>
      </dgm:t>
    </dgm:pt>
    <dgm:pt modelId="{AE9A2180-22D9-4CD7-9B58-0D73F9EAE02E}" type="sibTrans" cxnId="{A6D715B4-6611-4006-818C-713484448676}">
      <dgm:prSet/>
      <dgm:spPr/>
      <dgm:t>
        <a:bodyPr/>
        <a:lstStyle/>
        <a:p>
          <a:endParaRPr lang="en-IN"/>
        </a:p>
      </dgm:t>
    </dgm:pt>
    <dgm:pt modelId="{A3AE3659-F226-411F-949C-2AFE74965D4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Regression Model Implementation</a:t>
          </a:r>
        </a:p>
      </dgm:t>
    </dgm:pt>
    <dgm:pt modelId="{531C1018-3704-48EC-A7F3-C7507B4A7BA1}" type="parTrans" cxnId="{7F3A6845-40FD-420B-9E62-AF5FFBAF6A48}">
      <dgm:prSet/>
      <dgm:spPr/>
      <dgm:t>
        <a:bodyPr/>
        <a:lstStyle/>
        <a:p>
          <a:endParaRPr lang="en-IN"/>
        </a:p>
      </dgm:t>
    </dgm:pt>
    <dgm:pt modelId="{E5364D6F-E1AC-4EFC-87A5-969D556B5F38}" type="sibTrans" cxnId="{7F3A6845-40FD-420B-9E62-AF5FFBAF6A48}">
      <dgm:prSet/>
      <dgm:spPr/>
      <dgm:t>
        <a:bodyPr/>
        <a:lstStyle/>
        <a:p>
          <a:endParaRPr lang="en-IN"/>
        </a:p>
      </dgm:t>
    </dgm:pt>
    <dgm:pt modelId="{80737F7B-16C0-4324-AAE4-E8D79A2225B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Model Accuracy Assessment</a:t>
          </a:r>
        </a:p>
      </dgm:t>
    </dgm:pt>
    <dgm:pt modelId="{85586ACE-DE3E-4358-AFA1-5EC8AFB2076F}" type="parTrans" cxnId="{D592B99F-A73E-4CA2-AD06-1700883C1B0D}">
      <dgm:prSet/>
      <dgm:spPr/>
      <dgm:t>
        <a:bodyPr/>
        <a:lstStyle/>
        <a:p>
          <a:endParaRPr lang="en-IN"/>
        </a:p>
      </dgm:t>
    </dgm:pt>
    <dgm:pt modelId="{7A160841-46D5-4215-99BF-D34DF2F35254}" type="sibTrans" cxnId="{D592B99F-A73E-4CA2-AD06-1700883C1B0D}">
      <dgm:prSet/>
      <dgm:spPr/>
      <dgm:t>
        <a:bodyPr/>
        <a:lstStyle/>
        <a:p>
          <a:endParaRPr lang="en-IN"/>
        </a:p>
      </dgm:t>
    </dgm:pt>
    <dgm:pt modelId="{95891C07-99E5-4EE2-B128-BFE2D274D01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Result Interpretation</a:t>
          </a:r>
        </a:p>
      </dgm:t>
    </dgm:pt>
    <dgm:pt modelId="{EA0FA6E4-1D8C-42B3-9A44-5AF72D686AFE}" type="parTrans" cxnId="{4E16D1F8-2268-4EE6-9CD5-C99BDCEE389A}">
      <dgm:prSet/>
      <dgm:spPr/>
      <dgm:t>
        <a:bodyPr/>
        <a:lstStyle/>
        <a:p>
          <a:endParaRPr lang="en-IN"/>
        </a:p>
      </dgm:t>
    </dgm:pt>
    <dgm:pt modelId="{7C6B300C-903F-4102-BA95-777DE3C79C4F}" type="sibTrans" cxnId="{4E16D1F8-2268-4EE6-9CD5-C99BDCEE389A}">
      <dgm:prSet/>
      <dgm:spPr/>
      <dgm:t>
        <a:bodyPr/>
        <a:lstStyle/>
        <a:p>
          <a:endParaRPr lang="en-IN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7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7"/>
      <dgm:spPr/>
    </dgm:pt>
    <dgm:pt modelId="{429CABD1-4116-474B-81BF-735E2CA9DD00}" type="pres">
      <dgm:prSet presAssocID="{7E5AA53B-3EEE-4DE4-BB81-9044890C2946}" presName="dstNode" presStyleLbl="node1" presStyleIdx="0" presStyleCnt="7"/>
      <dgm:spPr/>
    </dgm:pt>
    <dgm:pt modelId="{58319267-C71E-43C9-94E1-827D0616C7A7}" type="pres">
      <dgm:prSet presAssocID="{6750AC01-D39D-4F3A-9DC8-2A211EE986A2}" presName="text_1" presStyleLbl="node1" presStyleIdx="0" presStyleCnt="7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7"/>
      <dgm:spPr/>
    </dgm:pt>
    <dgm:pt modelId="{95DE6538-27BD-44AF-A1A8-CA8F6B10FDD2}" type="pres">
      <dgm:prSet presAssocID="{0BEF68B8-1228-47BB-83B5-7B9CD1E3F84E}" presName="text_2" presStyleLbl="node1" presStyleIdx="1" presStyleCnt="7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7"/>
      <dgm:spPr/>
    </dgm:pt>
    <dgm:pt modelId="{F003BCA7-6387-42CC-BB7C-DB4D5C7D7F05}" type="pres">
      <dgm:prSet presAssocID="{B5CB3088-EBF7-48CC-8539-CD4126CE9BF1}" presName="text_3" presStyleLbl="node1" presStyleIdx="2" presStyleCnt="7">
        <dgm:presLayoutVars>
          <dgm:bulletEnabled val="1"/>
        </dgm:presLayoutVars>
      </dgm:prSet>
      <dgm:spPr/>
    </dgm:pt>
    <dgm:pt modelId="{AB2F93AB-4221-4E0C-BB78-0A3050A06E65}" type="pres">
      <dgm:prSet presAssocID="{B5CB3088-EBF7-48CC-8539-CD4126CE9BF1}" presName="accent_3" presStyleCnt="0"/>
      <dgm:spPr/>
    </dgm:pt>
    <dgm:pt modelId="{E299ACC8-9E04-4873-A8CE-482151E06947}" type="pres">
      <dgm:prSet presAssocID="{B5CB3088-EBF7-48CC-8539-CD4126CE9BF1}" presName="accentRepeatNode" presStyleLbl="solidFgAcc1" presStyleIdx="2" presStyleCnt="7"/>
      <dgm:spPr/>
    </dgm:pt>
    <dgm:pt modelId="{D84E3737-30D3-4B27-BC62-6039B5F2B6B8}" type="pres">
      <dgm:prSet presAssocID="{E055761B-F9BB-4AAA-BD8D-EE69471ECD93}" presName="text_4" presStyleLbl="node1" presStyleIdx="3" presStyleCnt="7">
        <dgm:presLayoutVars>
          <dgm:bulletEnabled val="1"/>
        </dgm:presLayoutVars>
      </dgm:prSet>
      <dgm:spPr/>
    </dgm:pt>
    <dgm:pt modelId="{9A05C17E-5FF7-4FC0-9DE3-B85B1C2D771A}" type="pres">
      <dgm:prSet presAssocID="{E055761B-F9BB-4AAA-BD8D-EE69471ECD93}" presName="accent_4" presStyleCnt="0"/>
      <dgm:spPr/>
    </dgm:pt>
    <dgm:pt modelId="{4B24C1B2-D261-4FA4-8BEB-36418E2F82CA}" type="pres">
      <dgm:prSet presAssocID="{E055761B-F9BB-4AAA-BD8D-EE69471ECD93}" presName="accentRepeatNode" presStyleLbl="solidFgAcc1" presStyleIdx="3" presStyleCnt="7"/>
      <dgm:spPr/>
    </dgm:pt>
    <dgm:pt modelId="{2593CBBE-E42F-4630-99F7-C1F744A2F575}" type="pres">
      <dgm:prSet presAssocID="{A3AE3659-F226-411F-949C-2AFE74965D49}" presName="text_5" presStyleLbl="node1" presStyleIdx="4" presStyleCnt="7">
        <dgm:presLayoutVars>
          <dgm:bulletEnabled val="1"/>
        </dgm:presLayoutVars>
      </dgm:prSet>
      <dgm:spPr/>
    </dgm:pt>
    <dgm:pt modelId="{5EC8BCFA-7F19-4CBD-8E79-F7D52A0DAB92}" type="pres">
      <dgm:prSet presAssocID="{A3AE3659-F226-411F-949C-2AFE74965D49}" presName="accent_5" presStyleCnt="0"/>
      <dgm:spPr/>
    </dgm:pt>
    <dgm:pt modelId="{32B07253-B2D5-4EBC-AF76-A83BEC9B6411}" type="pres">
      <dgm:prSet presAssocID="{A3AE3659-F226-411F-949C-2AFE74965D49}" presName="accentRepeatNode" presStyleLbl="solidFgAcc1" presStyleIdx="4" presStyleCnt="7"/>
      <dgm:spPr/>
    </dgm:pt>
    <dgm:pt modelId="{35BF1212-7E52-4BE5-B034-5FCD098395A8}" type="pres">
      <dgm:prSet presAssocID="{80737F7B-16C0-4324-AAE4-E8D79A2225B4}" presName="text_6" presStyleLbl="node1" presStyleIdx="5" presStyleCnt="7">
        <dgm:presLayoutVars>
          <dgm:bulletEnabled val="1"/>
        </dgm:presLayoutVars>
      </dgm:prSet>
      <dgm:spPr/>
    </dgm:pt>
    <dgm:pt modelId="{E43B968B-7933-4677-9B18-A18FC3C8605F}" type="pres">
      <dgm:prSet presAssocID="{80737F7B-16C0-4324-AAE4-E8D79A2225B4}" presName="accent_6" presStyleCnt="0"/>
      <dgm:spPr/>
    </dgm:pt>
    <dgm:pt modelId="{3E9895DA-8AB9-4265-8054-7C0ACEEAC690}" type="pres">
      <dgm:prSet presAssocID="{80737F7B-16C0-4324-AAE4-E8D79A2225B4}" presName="accentRepeatNode" presStyleLbl="solidFgAcc1" presStyleIdx="5" presStyleCnt="7"/>
      <dgm:spPr/>
    </dgm:pt>
    <dgm:pt modelId="{EFA5385C-2CCF-4EDE-8691-EF18C31F98F8}" type="pres">
      <dgm:prSet presAssocID="{95891C07-99E5-4EE2-B128-BFE2D274D013}" presName="text_7" presStyleLbl="node1" presStyleIdx="6" presStyleCnt="7">
        <dgm:presLayoutVars>
          <dgm:bulletEnabled val="1"/>
        </dgm:presLayoutVars>
      </dgm:prSet>
      <dgm:spPr/>
    </dgm:pt>
    <dgm:pt modelId="{B174A619-85EA-49F5-AC0B-166C460D79EE}" type="pres">
      <dgm:prSet presAssocID="{95891C07-99E5-4EE2-B128-BFE2D274D013}" presName="accent_7" presStyleCnt="0"/>
      <dgm:spPr/>
    </dgm:pt>
    <dgm:pt modelId="{3A616B48-8E6C-46C3-BBC2-633F13719693}" type="pres">
      <dgm:prSet presAssocID="{95891C07-99E5-4EE2-B128-BFE2D274D013}" presName="accentRepeatNode" presStyleLbl="solidFgAcc1" presStyleIdx="6" presStyleCnt="7"/>
      <dgm:spPr/>
    </dgm:pt>
  </dgm:ptLst>
  <dgm:cxnLst>
    <dgm:cxn modelId="{EC87160E-EE90-41F0-A7A6-1F1DBC13D28F}" type="presOf" srcId="{80737F7B-16C0-4324-AAE4-E8D79A2225B4}" destId="{35BF1212-7E52-4BE5-B034-5FCD098395A8}" srcOrd="0" destOrd="0" presId="urn:microsoft.com/office/officeart/2008/layout/VerticalCurvedList"/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77774A13-93C3-4F49-8F1B-2039CC2DB31C}" type="presOf" srcId="{95891C07-99E5-4EE2-B128-BFE2D274D013}" destId="{EFA5385C-2CCF-4EDE-8691-EF18C31F98F8}" srcOrd="0" destOrd="0" presId="urn:microsoft.com/office/officeart/2008/layout/VerticalCurvedList"/>
    <dgm:cxn modelId="{590C6F32-0E15-4F8F-9D70-F87570D2EE9E}" type="presOf" srcId="{E055761B-F9BB-4AAA-BD8D-EE69471ECD93}" destId="{D84E3737-30D3-4B27-BC62-6039B5F2B6B8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7F3A6845-40FD-420B-9E62-AF5FFBAF6A48}" srcId="{7E5AA53B-3EEE-4DE4-BB81-9044890C2946}" destId="{A3AE3659-F226-411F-949C-2AFE74965D49}" srcOrd="4" destOrd="0" parTransId="{531C1018-3704-48EC-A7F3-C7507B4A7BA1}" sibTransId="{E5364D6F-E1AC-4EFC-87A5-969D556B5F38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6955B777-9D05-4156-A4D1-7CC7BE526298}" srcId="{7E5AA53B-3EEE-4DE4-BB81-9044890C2946}" destId="{B5CB3088-EBF7-48CC-8539-CD4126CE9BF1}" srcOrd="2" destOrd="0" parTransId="{BF060B39-7F86-44BD-A8E6-7B4977B4C703}" sibTransId="{0895FB1E-9BDF-44B9-8ACE-BBF16FC11F41}"/>
    <dgm:cxn modelId="{D504A57D-F89A-465E-845E-DC50F04A027C}" type="presOf" srcId="{B5CB3088-EBF7-48CC-8539-CD4126CE9BF1}" destId="{F003BCA7-6387-42CC-BB7C-DB4D5C7D7F05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D592B99F-A73E-4CA2-AD06-1700883C1B0D}" srcId="{7E5AA53B-3EEE-4DE4-BB81-9044890C2946}" destId="{80737F7B-16C0-4324-AAE4-E8D79A2225B4}" srcOrd="5" destOrd="0" parTransId="{85586ACE-DE3E-4358-AFA1-5EC8AFB2076F}" sibTransId="{7A160841-46D5-4215-99BF-D34DF2F35254}"/>
    <dgm:cxn modelId="{6A3732AD-D0DA-42B4-8A29-58BF3CFA5C1E}" type="presOf" srcId="{A3AE3659-F226-411F-949C-2AFE74965D49}" destId="{2593CBBE-E42F-4630-99F7-C1F744A2F575}" srcOrd="0" destOrd="0" presId="urn:microsoft.com/office/officeart/2008/layout/VerticalCurvedList"/>
    <dgm:cxn modelId="{A6D715B4-6611-4006-818C-713484448676}" srcId="{7E5AA53B-3EEE-4DE4-BB81-9044890C2946}" destId="{E055761B-F9BB-4AAA-BD8D-EE69471ECD93}" srcOrd="3" destOrd="0" parTransId="{015542C0-04D9-4AD8-BC1D-02EA320D509D}" sibTransId="{AE9A2180-22D9-4CD7-9B58-0D73F9EAE02E}"/>
    <dgm:cxn modelId="{4E16D1F8-2268-4EE6-9CD5-C99BDCEE389A}" srcId="{7E5AA53B-3EEE-4DE4-BB81-9044890C2946}" destId="{95891C07-99E5-4EE2-B128-BFE2D274D013}" srcOrd="6" destOrd="0" parTransId="{EA0FA6E4-1D8C-42B3-9A44-5AF72D686AFE}" sibTransId="{7C6B300C-903F-4102-BA95-777DE3C79C4F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AF83B7EF-FF54-4AC9-A6A7-3ED91AD72A42}" type="presParOf" srcId="{90561C55-3C6E-4D53-85E1-2C50BCDDA392}" destId="{F003BCA7-6387-42CC-BB7C-DB4D5C7D7F05}" srcOrd="5" destOrd="0" presId="urn:microsoft.com/office/officeart/2008/layout/VerticalCurvedList"/>
    <dgm:cxn modelId="{4BB7C459-BD25-4606-8DFF-1042F87F74A2}" type="presParOf" srcId="{90561C55-3C6E-4D53-85E1-2C50BCDDA392}" destId="{AB2F93AB-4221-4E0C-BB78-0A3050A06E65}" srcOrd="6" destOrd="0" presId="urn:microsoft.com/office/officeart/2008/layout/VerticalCurvedList"/>
    <dgm:cxn modelId="{46756C1B-D033-4718-89E2-2C8D77604ABC}" type="presParOf" srcId="{AB2F93AB-4221-4E0C-BB78-0A3050A06E65}" destId="{E299ACC8-9E04-4873-A8CE-482151E06947}" srcOrd="0" destOrd="0" presId="urn:microsoft.com/office/officeart/2008/layout/VerticalCurvedList"/>
    <dgm:cxn modelId="{4FD301C3-C55E-4BBB-B83E-767113105CCF}" type="presParOf" srcId="{90561C55-3C6E-4D53-85E1-2C50BCDDA392}" destId="{D84E3737-30D3-4B27-BC62-6039B5F2B6B8}" srcOrd="7" destOrd="0" presId="urn:microsoft.com/office/officeart/2008/layout/VerticalCurvedList"/>
    <dgm:cxn modelId="{02FDF777-7975-44F1-91BB-31D6EBC5E202}" type="presParOf" srcId="{90561C55-3C6E-4D53-85E1-2C50BCDDA392}" destId="{9A05C17E-5FF7-4FC0-9DE3-B85B1C2D771A}" srcOrd="8" destOrd="0" presId="urn:microsoft.com/office/officeart/2008/layout/VerticalCurvedList"/>
    <dgm:cxn modelId="{A7EAA5CF-AA3F-470D-978F-663105C126C9}" type="presParOf" srcId="{9A05C17E-5FF7-4FC0-9DE3-B85B1C2D771A}" destId="{4B24C1B2-D261-4FA4-8BEB-36418E2F82CA}" srcOrd="0" destOrd="0" presId="urn:microsoft.com/office/officeart/2008/layout/VerticalCurvedList"/>
    <dgm:cxn modelId="{7E2640A0-BB26-4D10-A4EF-05440D3DC8FB}" type="presParOf" srcId="{90561C55-3C6E-4D53-85E1-2C50BCDDA392}" destId="{2593CBBE-E42F-4630-99F7-C1F744A2F575}" srcOrd="9" destOrd="0" presId="urn:microsoft.com/office/officeart/2008/layout/VerticalCurvedList"/>
    <dgm:cxn modelId="{93FB8F52-0F11-4CEF-B40A-637620AB665F}" type="presParOf" srcId="{90561C55-3C6E-4D53-85E1-2C50BCDDA392}" destId="{5EC8BCFA-7F19-4CBD-8E79-F7D52A0DAB92}" srcOrd="10" destOrd="0" presId="urn:microsoft.com/office/officeart/2008/layout/VerticalCurvedList"/>
    <dgm:cxn modelId="{C3B5B044-6714-43EC-988D-7F7577D6974A}" type="presParOf" srcId="{5EC8BCFA-7F19-4CBD-8E79-F7D52A0DAB92}" destId="{32B07253-B2D5-4EBC-AF76-A83BEC9B6411}" srcOrd="0" destOrd="0" presId="urn:microsoft.com/office/officeart/2008/layout/VerticalCurvedList"/>
    <dgm:cxn modelId="{B399CF6A-2936-4C98-927A-493A81EFE235}" type="presParOf" srcId="{90561C55-3C6E-4D53-85E1-2C50BCDDA392}" destId="{35BF1212-7E52-4BE5-B034-5FCD098395A8}" srcOrd="11" destOrd="0" presId="urn:microsoft.com/office/officeart/2008/layout/VerticalCurvedList"/>
    <dgm:cxn modelId="{1A888E29-3ADA-4D35-B1E6-F2C89BB1DDCB}" type="presParOf" srcId="{90561C55-3C6E-4D53-85E1-2C50BCDDA392}" destId="{E43B968B-7933-4677-9B18-A18FC3C8605F}" srcOrd="12" destOrd="0" presId="urn:microsoft.com/office/officeart/2008/layout/VerticalCurvedList"/>
    <dgm:cxn modelId="{91EE0D0E-97C2-4988-813C-64253F4F2667}" type="presParOf" srcId="{E43B968B-7933-4677-9B18-A18FC3C8605F}" destId="{3E9895DA-8AB9-4265-8054-7C0ACEEAC690}" srcOrd="0" destOrd="0" presId="urn:microsoft.com/office/officeart/2008/layout/VerticalCurvedList"/>
    <dgm:cxn modelId="{9C7C8A80-9752-4EBF-AA3F-5D5CDEE27BE1}" type="presParOf" srcId="{90561C55-3C6E-4D53-85E1-2C50BCDDA392}" destId="{EFA5385C-2CCF-4EDE-8691-EF18C31F98F8}" srcOrd="13" destOrd="0" presId="urn:microsoft.com/office/officeart/2008/layout/VerticalCurvedList"/>
    <dgm:cxn modelId="{E639263C-3CDE-4F4B-BCB3-46721BDF1C02}" type="presParOf" srcId="{90561C55-3C6E-4D53-85E1-2C50BCDDA392}" destId="{B174A619-85EA-49F5-AC0B-166C460D79EE}" srcOrd="14" destOrd="0" presId="urn:microsoft.com/office/officeart/2008/layout/VerticalCurvedList"/>
    <dgm:cxn modelId="{71C57AFB-372E-498E-963F-648F4AA3B49D}" type="presParOf" srcId="{B174A619-85EA-49F5-AC0B-166C460D79EE}" destId="{3A616B48-8E6C-46C3-BBC2-633F1371969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700" kern="1200" dirty="0"/>
            <a:t>GDP per Capita Prediction</a:t>
          </a:r>
          <a:endParaRPr lang="en-US" sz="27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Modeling key Economic Indicators 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Enhancing Policies and Decision Making</a:t>
          </a:r>
        </a:p>
      </dsp:txBody>
      <dsp:txXfrm>
        <a:off x="7628474" y="2746269"/>
        <a:ext cx="322283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250300" y="162016"/>
          <a:ext cx="6556659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Economic Indicator Identification </a:t>
          </a:r>
          <a:endParaRPr lang="en-US" sz="1600" b="1" kern="1200" dirty="0"/>
        </a:p>
      </dsp:txBody>
      <dsp:txXfrm>
        <a:off x="250300" y="162016"/>
        <a:ext cx="6556659" cy="323890"/>
      </dsp:txXfrm>
    </dsp:sp>
    <dsp:sp modelId="{07CB3071-D555-47DA-A36A-69EB91531FD8}">
      <dsp:nvSpPr>
        <dsp:cNvPr id="0" name=""/>
        <dsp:cNvSpPr/>
      </dsp:nvSpPr>
      <dsp:spPr>
        <a:xfrm>
          <a:off x="47868" y="121530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543612" y="648137"/>
          <a:ext cx="6263347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Data Sourcing</a:t>
          </a:r>
          <a:endParaRPr lang="en-US" sz="1600" b="1" kern="1200" dirty="0"/>
        </a:p>
      </dsp:txBody>
      <dsp:txXfrm>
        <a:off x="543612" y="648137"/>
        <a:ext cx="6263347" cy="323890"/>
      </dsp:txXfrm>
    </dsp:sp>
    <dsp:sp modelId="{3F8116AC-FAC3-4E95-9865-93CCFEB191B9}">
      <dsp:nvSpPr>
        <dsp:cNvPr id="0" name=""/>
        <dsp:cNvSpPr/>
      </dsp:nvSpPr>
      <dsp:spPr>
        <a:xfrm>
          <a:off x="341180" y="607651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3BCA7-6387-42CC-BB7C-DB4D5C7D7F05}">
      <dsp:nvSpPr>
        <dsp:cNvPr id="0" name=""/>
        <dsp:cNvSpPr/>
      </dsp:nvSpPr>
      <dsp:spPr>
        <a:xfrm>
          <a:off x="704345" y="1133902"/>
          <a:ext cx="6102613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Cleaning &amp; Feature Scaling</a:t>
          </a:r>
        </a:p>
      </dsp:txBody>
      <dsp:txXfrm>
        <a:off x="704345" y="1133902"/>
        <a:ext cx="6102613" cy="323890"/>
      </dsp:txXfrm>
    </dsp:sp>
    <dsp:sp modelId="{E299ACC8-9E04-4873-A8CE-482151E06947}">
      <dsp:nvSpPr>
        <dsp:cNvPr id="0" name=""/>
        <dsp:cNvSpPr/>
      </dsp:nvSpPr>
      <dsp:spPr>
        <a:xfrm>
          <a:off x="501914" y="1093416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E3737-30D3-4B27-BC62-6039B5F2B6B8}">
      <dsp:nvSpPr>
        <dsp:cNvPr id="0" name=""/>
        <dsp:cNvSpPr/>
      </dsp:nvSpPr>
      <dsp:spPr>
        <a:xfrm>
          <a:off x="755666" y="1620023"/>
          <a:ext cx="6051292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Exploratory Data Analysis</a:t>
          </a:r>
        </a:p>
      </dsp:txBody>
      <dsp:txXfrm>
        <a:off x="755666" y="1620023"/>
        <a:ext cx="6051292" cy="323890"/>
      </dsp:txXfrm>
    </dsp:sp>
    <dsp:sp modelId="{4B24C1B2-D261-4FA4-8BEB-36418E2F82CA}">
      <dsp:nvSpPr>
        <dsp:cNvPr id="0" name=""/>
        <dsp:cNvSpPr/>
      </dsp:nvSpPr>
      <dsp:spPr>
        <a:xfrm>
          <a:off x="553234" y="1579537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3CBBE-E42F-4630-99F7-C1F744A2F575}">
      <dsp:nvSpPr>
        <dsp:cNvPr id="0" name=""/>
        <dsp:cNvSpPr/>
      </dsp:nvSpPr>
      <dsp:spPr>
        <a:xfrm>
          <a:off x="704345" y="2106144"/>
          <a:ext cx="6102613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Regression Model Implementation</a:t>
          </a:r>
        </a:p>
      </dsp:txBody>
      <dsp:txXfrm>
        <a:off x="704345" y="2106144"/>
        <a:ext cx="6102613" cy="323890"/>
      </dsp:txXfrm>
    </dsp:sp>
    <dsp:sp modelId="{32B07253-B2D5-4EBC-AF76-A83BEC9B6411}">
      <dsp:nvSpPr>
        <dsp:cNvPr id="0" name=""/>
        <dsp:cNvSpPr/>
      </dsp:nvSpPr>
      <dsp:spPr>
        <a:xfrm>
          <a:off x="501914" y="2065658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F1212-7E52-4BE5-B034-5FCD098395A8}">
      <dsp:nvSpPr>
        <dsp:cNvPr id="0" name=""/>
        <dsp:cNvSpPr/>
      </dsp:nvSpPr>
      <dsp:spPr>
        <a:xfrm>
          <a:off x="543612" y="2591909"/>
          <a:ext cx="6263347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Model Accuracy Assessment</a:t>
          </a:r>
        </a:p>
      </dsp:txBody>
      <dsp:txXfrm>
        <a:off x="543612" y="2591909"/>
        <a:ext cx="6263347" cy="323890"/>
      </dsp:txXfrm>
    </dsp:sp>
    <dsp:sp modelId="{3E9895DA-8AB9-4265-8054-7C0ACEEAC690}">
      <dsp:nvSpPr>
        <dsp:cNvPr id="0" name=""/>
        <dsp:cNvSpPr/>
      </dsp:nvSpPr>
      <dsp:spPr>
        <a:xfrm>
          <a:off x="341180" y="2551423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5385C-2CCF-4EDE-8691-EF18C31F98F8}">
      <dsp:nvSpPr>
        <dsp:cNvPr id="0" name=""/>
        <dsp:cNvSpPr/>
      </dsp:nvSpPr>
      <dsp:spPr>
        <a:xfrm>
          <a:off x="250300" y="3078030"/>
          <a:ext cx="6556659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Result Interpretation</a:t>
          </a:r>
        </a:p>
      </dsp:txBody>
      <dsp:txXfrm>
        <a:off x="250300" y="3078030"/>
        <a:ext cx="6556659" cy="323890"/>
      </dsp:txXfrm>
    </dsp:sp>
    <dsp:sp modelId="{3A616B48-8E6C-46C3-BBC2-633F13719693}">
      <dsp:nvSpPr>
        <dsp:cNvPr id="0" name=""/>
        <dsp:cNvSpPr/>
      </dsp:nvSpPr>
      <dsp:spPr>
        <a:xfrm>
          <a:off x="47868" y="3037544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onj.se/media/hk3hzmp1/working-paper-157-forecasting-quarterly-gdp-growth-rates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ssrn.com/sol3/Delivery.cfm/5251604.pdf?abstractid=5251604&amp;mirid=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bj.gov.jo/EBV4.0/Root_Storage/AR/Research_and_working_papers/%D8%A8%D8%AD%D8%AB-A_Machine_Learning_Approach_to_Nowcasting_GDP_with_Limited_Data_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/>
        </p:blipFill>
        <p:spPr>
          <a:xfrm>
            <a:off x="-10653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E04B0-1667-A565-67BE-29B9D968DCAE}"/>
              </a:ext>
            </a:extLst>
          </p:cNvPr>
          <p:cNvSpPr txBox="1"/>
          <p:nvPr/>
        </p:nvSpPr>
        <p:spPr>
          <a:xfrm>
            <a:off x="581191" y="4501374"/>
            <a:ext cx="1099354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</a:rPr>
              <a:t>GDPredict</a:t>
            </a:r>
            <a:r>
              <a:rPr lang="en-US" sz="2800" b="1" dirty="0">
                <a:solidFill>
                  <a:schemeClr val="bg1"/>
                </a:solidFill>
              </a:rPr>
              <a:t>:  A Machine Learning Approach Towards GDP per Capita Prediction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</a:rPr>
              <a:t>Sanket Kashyap, 23BBS0023</a:t>
            </a:r>
          </a:p>
          <a:p>
            <a:pPr algn="r"/>
            <a:r>
              <a:rPr lang="en-US" sz="1600" dirty="0">
                <a:solidFill>
                  <a:schemeClr val="bg1"/>
                </a:solidFill>
              </a:rPr>
              <a:t>Ujjwal Hirwani, 23BBS0036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Objectives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835939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gdp</a:t>
            </a:r>
            <a:r>
              <a:rPr lang="en-US" dirty="0"/>
              <a:t> per capita? 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581025" y="2231480"/>
            <a:ext cx="5422900" cy="362535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8E27-83CB-9837-925C-682632C028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Living Standards</a:t>
            </a:r>
            <a:r>
              <a:rPr lang="en-US" dirty="0"/>
              <a:t> – Indicates the average economic well-being of a population.</a:t>
            </a:r>
          </a:p>
          <a:p>
            <a:r>
              <a:rPr lang="en-US" b="1" dirty="0"/>
              <a:t>Economic Comparison</a:t>
            </a:r>
            <a:r>
              <a:rPr lang="en-US" dirty="0"/>
              <a:t> – Allows fair comparison of prosperity across countries.</a:t>
            </a:r>
          </a:p>
          <a:p>
            <a:r>
              <a:rPr lang="en-US" b="1" dirty="0"/>
              <a:t>Policy Planning</a:t>
            </a:r>
            <a:r>
              <a:rPr lang="en-US" dirty="0"/>
              <a:t> – Guides government in making development and welfare policies.</a:t>
            </a:r>
          </a:p>
          <a:p>
            <a:r>
              <a:rPr lang="en-US" b="1" dirty="0"/>
              <a:t>Investment Decisions</a:t>
            </a:r>
            <a:r>
              <a:rPr lang="en-US" dirty="0"/>
              <a:t> – Helps investors assess market potential and stability.</a:t>
            </a:r>
          </a:p>
          <a:p>
            <a:r>
              <a:rPr lang="en-US" b="1" dirty="0"/>
              <a:t>Growth Tracking</a:t>
            </a:r>
            <a:r>
              <a:rPr lang="en-US" dirty="0"/>
              <a:t> – Monitors economic progress over time, adjusted for population.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5980-6F0C-D7D3-5481-225FFA6C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- 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17D88C-4EDC-1124-E50B-F9FD11F06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Title: </a:t>
            </a:r>
            <a:r>
              <a:rPr lang="en-US" dirty="0"/>
              <a:t>Forecasting Quarterly GDP Growth Rates Using Machine Learning Methods</a:t>
            </a:r>
          </a:p>
          <a:p>
            <a:r>
              <a:rPr lang="en-US" b="1" dirty="0"/>
              <a:t>Author(s): </a:t>
            </a:r>
            <a:r>
              <a:rPr lang="en-IN" dirty="0"/>
              <a:t>Kristian Jonsson</a:t>
            </a:r>
          </a:p>
          <a:p>
            <a:r>
              <a:rPr lang="en-IN" b="1" dirty="0"/>
              <a:t>Journal: </a:t>
            </a:r>
            <a:r>
              <a:rPr lang="en-IN" dirty="0"/>
              <a:t>National Institute of Economic Research</a:t>
            </a:r>
          </a:p>
          <a:p>
            <a:r>
              <a:rPr lang="en-IN" b="1" dirty="0"/>
              <a:t>Link: </a:t>
            </a:r>
            <a:r>
              <a:rPr lang="en-IN" dirty="0">
                <a:hlinkClick r:id="rId2"/>
              </a:rPr>
              <a:t>https://www.konj.se/media/hk3hzmp1/working-paper-157-forecasting-quarterly-gdp-growth-rates.pdf</a:t>
            </a:r>
            <a:endParaRPr lang="en-IN" dirty="0"/>
          </a:p>
          <a:p>
            <a:r>
              <a:rPr lang="en-IN" b="1" dirty="0"/>
              <a:t>Methodology Used:  </a:t>
            </a:r>
            <a:r>
              <a:rPr lang="en-US" dirty="0"/>
              <a:t>The paper's methodology compared three types of linear indicator models (</a:t>
            </a:r>
            <a:r>
              <a:rPr lang="en-US" b="1" dirty="0"/>
              <a:t>single-indicator, an average of all single-indicator, and a multiple linear model</a:t>
            </a:r>
            <a:r>
              <a:rPr lang="en-US" dirty="0"/>
              <a:t>) as baselines against a variety of machine learning algorithms, including </a:t>
            </a:r>
            <a:r>
              <a:rPr lang="en-US" b="1" dirty="0"/>
              <a:t>Regularized Linear Models, K Nearest Neighbor, Support Vector Regression, Regression Trees, Random Forest, Gradient-Boosted Regression Trees, and Multi-Layer Perceptron, </a:t>
            </a:r>
            <a:r>
              <a:rPr lang="en-US" dirty="0"/>
              <a:t>to forecast Swedish quarterly GDP growth</a:t>
            </a:r>
          </a:p>
          <a:p>
            <a:r>
              <a:rPr lang="en-US" b="1" dirty="0"/>
              <a:t>Dateset Used: </a:t>
            </a:r>
            <a:r>
              <a:rPr lang="en-US" dirty="0"/>
              <a:t>Economic Tendency Survey (ETS)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26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6575-7FC4-2863-5D03-2AF83754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4B67-74A2-E505-7468-26E6D235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- 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FDA8DA-048D-A292-FBA0-9CE578380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  </a:t>
            </a:r>
            <a:r>
              <a:rPr lang="en-US" dirty="0"/>
              <a:t>The paper </a:t>
            </a:r>
            <a:r>
              <a:rPr lang="en-US" b="1" dirty="0"/>
              <a:t>"Forecasting Quarterly GDP Growth Rates Using Machine Learning Methods"</a:t>
            </a:r>
            <a:r>
              <a:rPr lang="en-US" dirty="0"/>
              <a:t> explores the use of ML models to forecast Swedish quarterly GDP growth, comparing them with traditional linear indicator models. Data is sourced from the </a:t>
            </a:r>
            <a:r>
              <a:rPr lang="en-US" b="1" dirty="0"/>
              <a:t>Economic Tendency Survey (ETS)</a:t>
            </a:r>
            <a:r>
              <a:rPr lang="en-US" dirty="0"/>
              <a:t> of the National Institute of Economic Research (NIER). Baseline models include single-indicator, averaged single-indicator, and multiple linear models estimated via OLS. ML techniques investigated are Regularized Linear Models (Lasso, Ridge, Elastic Net), K Nearest Neighbor, Support Vector Regression, Regression Trees, Random Forest, Gradient-Boosted Regression Trees, and Multi-Layer Perceptron. These methods aim to enhance forecasting accuracy over traditional approaches.</a:t>
            </a:r>
          </a:p>
          <a:p>
            <a:r>
              <a:rPr lang="en-US" b="1" dirty="0"/>
              <a:t>Key Findings and Results:  </a:t>
            </a:r>
            <a:r>
              <a:rPr lang="en-US" dirty="0"/>
              <a:t>Machine learning models, especially </a:t>
            </a:r>
            <a:r>
              <a:rPr lang="en-US" b="1" dirty="0"/>
              <a:t>Gradient-Boosted Regression Trees</a:t>
            </a:r>
            <a:r>
              <a:rPr lang="en-US" dirty="0"/>
              <a:t>, </a:t>
            </a:r>
            <a:r>
              <a:rPr lang="en-US" b="1" dirty="0"/>
              <a:t>Random Forest</a:t>
            </a:r>
            <a:r>
              <a:rPr lang="en-US" dirty="0"/>
              <a:t>, and </a:t>
            </a:r>
            <a:r>
              <a:rPr lang="en-US" b="1" dirty="0"/>
              <a:t>Multi-Layer Perceptron</a:t>
            </a:r>
            <a:r>
              <a:rPr lang="en-US" dirty="0"/>
              <a:t>, outperformed traditional linear models across all forecast accuracy metrics.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5848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4A064-839C-BE0D-AE13-121EFEDF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4CE5-F2BD-3BCD-4199-57C470EF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- II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7975F2-4090-9D24-EA10-5039ECC30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Title: </a:t>
            </a:r>
            <a:r>
              <a:rPr lang="en-US" dirty="0"/>
              <a:t>Machine Learning in GDP Nowcasting: From Lagging Indicators to Leading Algorithms</a:t>
            </a:r>
          </a:p>
          <a:p>
            <a:r>
              <a:rPr lang="en-US" b="1" dirty="0"/>
              <a:t>Author(s): </a:t>
            </a:r>
            <a:r>
              <a:rPr lang="en-IN" dirty="0"/>
              <a:t>Ilya </a:t>
            </a:r>
            <a:r>
              <a:rPr lang="en-IN" dirty="0" err="1"/>
              <a:t>Kislitskiy</a:t>
            </a:r>
            <a:r>
              <a:rPr lang="en-IN" dirty="0"/>
              <a:t>, Serhii </a:t>
            </a:r>
            <a:r>
              <a:rPr lang="en-IN" dirty="0" err="1"/>
              <a:t>Marinchenko</a:t>
            </a:r>
            <a:r>
              <a:rPr lang="en-IN" dirty="0"/>
              <a:t>, Vitalii </a:t>
            </a:r>
            <a:r>
              <a:rPr lang="en-IN" dirty="0" err="1"/>
              <a:t>Veremiienko</a:t>
            </a:r>
            <a:endParaRPr lang="en-IN" dirty="0"/>
          </a:p>
          <a:p>
            <a:r>
              <a:rPr lang="en-IN" b="1" dirty="0"/>
              <a:t>Journal: </a:t>
            </a:r>
            <a:r>
              <a:rPr lang="en-IN" dirty="0"/>
              <a:t>Social Science Research Network (SSRN)</a:t>
            </a:r>
          </a:p>
          <a:p>
            <a:r>
              <a:rPr lang="en-IN" b="1" dirty="0"/>
              <a:t>Link: </a:t>
            </a:r>
            <a:r>
              <a:rPr lang="en-IN" dirty="0">
                <a:hlinkClick r:id="rId2"/>
              </a:rPr>
              <a:t>https://papers.ssrn.com/sol3/Delivery.cfm/5251604.pdf?abstractid=5251604&amp;mirid=1</a:t>
            </a:r>
            <a:endParaRPr lang="en-IN" dirty="0"/>
          </a:p>
          <a:p>
            <a:r>
              <a:rPr lang="en-IN" b="1" dirty="0"/>
              <a:t>Methodology Used:  </a:t>
            </a:r>
            <a:r>
              <a:rPr lang="en-US" dirty="0"/>
              <a:t>The reviewed research compared machine learning models (</a:t>
            </a:r>
            <a:r>
              <a:rPr lang="en-US" b="1" dirty="0"/>
              <a:t>Random Forest, Gradient-Boosted Regression Trees, SVR, and Multi-Layer Perceptron, among others</a:t>
            </a:r>
            <a:r>
              <a:rPr lang="en-US" dirty="0"/>
              <a:t>) and traditional models (</a:t>
            </a:r>
            <a:r>
              <a:rPr lang="en-US" b="1" dirty="0"/>
              <a:t>Dynamic Factor Models</a:t>
            </a:r>
            <a:r>
              <a:rPr lang="en-US" dirty="0"/>
              <a:t> and </a:t>
            </a:r>
            <a:r>
              <a:rPr lang="en-US" b="1" dirty="0"/>
              <a:t>simple autoregressive models</a:t>
            </a:r>
            <a:r>
              <a:rPr lang="en-US" dirty="0"/>
              <a:t>) for their ability to nowcast GDP using large datasets of high-frequency indicators, consistently finding that ML models offer a significant improvement in accuracy.</a:t>
            </a:r>
          </a:p>
          <a:p>
            <a:r>
              <a:rPr lang="en-US" b="1" dirty="0"/>
              <a:t>Dateset Used: </a:t>
            </a:r>
            <a:r>
              <a:rPr lang="en-US" dirty="0"/>
              <a:t>Central Bank of Jordan from Q1 2008 to Q3 2023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80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C6125-4A24-B1F1-53FE-D934C9FC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7A9F-9816-81C2-476D-2B906EAF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- II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002FD2-4698-E3C5-E4B4-D0CC10129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  </a:t>
            </a:r>
            <a:r>
              <a:rPr lang="en-US" dirty="0"/>
              <a:t>These papers generally find that machine learning (ML) models are effective tools for "nowcasting" or providing real-time estimates of economic indicators like GDP, which are often released with a significant delay. A nowcast is a prediction for the present, the very recent past, and the very near future. The research demonstrates that ML models can handle large, complex datasets of high-frequency indicators to improve the accuracy of GDP nowcasts compared to traditional econometric models.</a:t>
            </a:r>
          </a:p>
          <a:p>
            <a:r>
              <a:rPr lang="en-US" b="1" dirty="0"/>
              <a:t>Key Findings and Results:  </a:t>
            </a:r>
            <a:r>
              <a:rPr lang="en-US" dirty="0"/>
              <a:t>Machine learning models, particularly tree-based and neural networks, significantly improve nowcasting accuracy reducing forecast errors by 16–28% over traditional benchmarks—when evaluated using metrics like MFE, MAE, MSE, and RMSE.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290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EA92-8F14-FD0A-3F9B-B5C61887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C213-D1F5-EA23-00A5-0B82C166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- III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6CF9A0-6F5F-0430-463D-0D0698EB3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Title: </a:t>
            </a:r>
            <a:r>
              <a:rPr lang="en-US" dirty="0"/>
              <a:t>A Machine Learning Approach to Nowcasting GDP with Limited Data Span: The Case of Jordan</a:t>
            </a:r>
          </a:p>
          <a:p>
            <a:r>
              <a:rPr lang="en-US" b="1" dirty="0"/>
              <a:t>Author(s): </a:t>
            </a:r>
            <a:r>
              <a:rPr lang="en-IN" dirty="0"/>
              <a:t>Amany Al-Rawashdeh</a:t>
            </a:r>
          </a:p>
          <a:p>
            <a:r>
              <a:rPr lang="en-IN" b="1" dirty="0"/>
              <a:t>Journal: </a:t>
            </a:r>
            <a:r>
              <a:rPr lang="en-US" dirty="0"/>
              <a:t>CBJ Working Paper</a:t>
            </a:r>
          </a:p>
          <a:p>
            <a:r>
              <a:rPr lang="en-IN" b="1" dirty="0"/>
              <a:t>Link: </a:t>
            </a:r>
            <a:r>
              <a:rPr lang="en-IN" dirty="0">
                <a:hlinkClick r:id="rId2"/>
              </a:rPr>
              <a:t>https://cbj.gov.jo/EBV4.0/Root_Storage/AR/Research_and_working_papers/%D8%A8%D8%AD%D8%AB-A_Machine_Learning_Approach_to_Nowcasting_GDP_with_Limited_Data_.pdf</a:t>
            </a:r>
            <a:endParaRPr lang="en-IN" dirty="0"/>
          </a:p>
          <a:p>
            <a:r>
              <a:rPr lang="en-IN" b="1" dirty="0"/>
              <a:t>Methodology Used:  </a:t>
            </a:r>
            <a:r>
              <a:rPr lang="en-US" dirty="0"/>
              <a:t>The study used an </a:t>
            </a:r>
            <a:r>
              <a:rPr lang="en-US" b="1" dirty="0"/>
              <a:t>Extreme Gradient Boosting (</a:t>
            </a:r>
            <a:r>
              <a:rPr lang="en-US" b="1" dirty="0" err="1"/>
              <a:t>XGBoost</a:t>
            </a:r>
            <a:r>
              <a:rPr lang="en-US" b="1" dirty="0"/>
              <a:t>) </a:t>
            </a:r>
            <a:r>
              <a:rPr lang="en-US" dirty="0"/>
              <a:t>nowcasting approach for </a:t>
            </a:r>
            <a:r>
              <a:rPr lang="en-US" b="1" dirty="0"/>
              <a:t>Real Gross Domestic Product (RGDP)</a:t>
            </a:r>
            <a:r>
              <a:rPr lang="en-US" dirty="0"/>
              <a:t> in Jordan. This methodology used quarterly and monthly high-frequency data from the Central Bank of Jordan and classified it by economic sector. The results were compared to benchmark models, including </a:t>
            </a:r>
            <a:r>
              <a:rPr lang="en-US" b="1" dirty="0"/>
              <a:t>Long Short-Term Memory (LSTM)</a:t>
            </a:r>
            <a:r>
              <a:rPr lang="en-US" dirty="0"/>
              <a:t>, </a:t>
            </a:r>
            <a:r>
              <a:rPr lang="en-US" b="1" dirty="0"/>
              <a:t>Autoregressive Moving Average (ARIMA)</a:t>
            </a:r>
            <a:r>
              <a:rPr lang="en-US" dirty="0"/>
              <a:t>, and </a:t>
            </a:r>
            <a:r>
              <a:rPr lang="en-US" b="1" dirty="0"/>
              <a:t>Dynamic Factor Models (DFM)</a:t>
            </a:r>
            <a:r>
              <a:rPr lang="en-US" dirty="0"/>
              <a:t>. The </a:t>
            </a:r>
            <a:r>
              <a:rPr lang="en-US" b="1" dirty="0"/>
              <a:t>Mean Squared Error (MSE) </a:t>
            </a:r>
            <a:r>
              <a:rPr lang="en-US" dirty="0"/>
              <a:t>was used as the primary evaluation metric to assess the performance of each model.</a:t>
            </a:r>
          </a:p>
          <a:p>
            <a:r>
              <a:rPr lang="en-US" b="1" dirty="0"/>
              <a:t>Dateset Used: </a:t>
            </a:r>
            <a:r>
              <a:rPr lang="en-US" dirty="0"/>
              <a:t>Central Bank of Jordan from Q1 2008 to Q3 2023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56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C340A-5FA7-E565-EF3E-B2DFF8D52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9A96-25B6-1B37-B938-DEC915B3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- III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E3D29C-FF84-B84E-D866-B8D474F56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  </a:t>
            </a:r>
            <a:r>
              <a:rPr lang="en-US" dirty="0"/>
              <a:t>The paper introduces an </a:t>
            </a:r>
            <a:r>
              <a:rPr lang="en-US" b="1" dirty="0" err="1"/>
              <a:t>XGBoost</a:t>
            </a:r>
            <a:r>
              <a:rPr lang="en-US" dirty="0"/>
              <a:t> model for nowcasting GDP in Jordan and compares its accuracy to traditional models like </a:t>
            </a:r>
            <a:r>
              <a:rPr lang="en-US" b="1" dirty="0"/>
              <a:t>LSTM</a:t>
            </a:r>
            <a:r>
              <a:rPr lang="en-US" dirty="0"/>
              <a:t>, </a:t>
            </a:r>
            <a:r>
              <a:rPr lang="en-US" b="1" dirty="0"/>
              <a:t>ARIMA</a:t>
            </a:r>
            <a:r>
              <a:rPr lang="en-US" dirty="0"/>
              <a:t>, and </a:t>
            </a:r>
            <a:r>
              <a:rPr lang="en-US" b="1" dirty="0"/>
              <a:t>DFM</a:t>
            </a:r>
            <a:r>
              <a:rPr lang="en-US" dirty="0"/>
              <a:t>. The study found that </a:t>
            </a:r>
            <a:r>
              <a:rPr lang="en-US" b="1" dirty="0" err="1"/>
              <a:t>XGBoost</a:t>
            </a:r>
            <a:r>
              <a:rPr lang="en-US" dirty="0"/>
              <a:t> provided highly accurate projections, with a very low </a:t>
            </a:r>
            <a:r>
              <a:rPr lang="en-US" b="1" dirty="0"/>
              <a:t>Mean Squared Error (MSE)</a:t>
            </a:r>
            <a:r>
              <a:rPr lang="en-US" dirty="0"/>
              <a:t>.</a:t>
            </a:r>
          </a:p>
          <a:p>
            <a:r>
              <a:rPr lang="en-US" b="1" dirty="0"/>
              <a:t>Key Findings and Results:  </a:t>
            </a:r>
            <a:r>
              <a:rPr lang="en-US" dirty="0"/>
              <a:t>The </a:t>
            </a:r>
            <a:r>
              <a:rPr lang="en-US" dirty="0" err="1"/>
              <a:t>XGBoost</a:t>
            </a:r>
            <a:r>
              <a:rPr lang="en-US" dirty="0"/>
              <a:t> model accurately nowcasted Jordan's Q4 2023 GDP growth at 2.4%, which was very close to the actual 2.3%. It had the lowest Mean Squared Error (MSE) of 0.000833, significantly outperforming benchmark models.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7846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0041-A737-54B7-60A8-286D1043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Interpretation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E5C8C-269B-9888-16CC-506367A6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Prioritize Machine Learning (ML): </a:t>
            </a:r>
            <a:r>
              <a:rPr lang="en-US" dirty="0"/>
              <a:t>ML models consistently outperform traditional methods for </a:t>
            </a:r>
            <a:r>
              <a:rPr lang="en-US" b="1" dirty="0"/>
              <a:t>GDP nowcasting.</a:t>
            </a:r>
          </a:p>
          <a:p>
            <a:r>
              <a:rPr lang="en-US" b="1" dirty="0"/>
              <a:t>Use Diverse Data: </a:t>
            </a:r>
            <a:r>
              <a:rPr lang="en-US" dirty="0"/>
              <a:t>Incorporate a wide range of high-frequency economic indicators for better accuracy.</a:t>
            </a:r>
          </a:p>
          <a:p>
            <a:r>
              <a:rPr lang="en-US" b="1" dirty="0"/>
              <a:t>Focus on Top-Performing Models: </a:t>
            </a:r>
            <a:r>
              <a:rPr lang="en-US" dirty="0"/>
              <a:t>Implement and fine-tune models like </a:t>
            </a:r>
            <a:r>
              <a:rPr lang="en-US" b="1" dirty="0" err="1"/>
              <a:t>XGBoost</a:t>
            </a:r>
            <a:r>
              <a:rPr lang="en-US" dirty="0"/>
              <a:t>, </a:t>
            </a:r>
            <a:r>
              <a:rPr lang="en-US" b="1" dirty="0"/>
              <a:t>Random Forest</a:t>
            </a:r>
            <a:r>
              <a:rPr lang="en-US" dirty="0"/>
              <a:t>, and </a:t>
            </a:r>
            <a:r>
              <a:rPr lang="en-US" b="1" dirty="0"/>
              <a:t>Neural Networks</a:t>
            </a:r>
            <a:r>
              <a:rPr lang="en-US" dirty="0"/>
              <a:t>.</a:t>
            </a:r>
          </a:p>
          <a:p>
            <a:r>
              <a:rPr lang="en-US" b="1" dirty="0"/>
              <a:t>Validate with Standard Metrics: </a:t>
            </a:r>
            <a:r>
              <a:rPr lang="en-US" dirty="0"/>
              <a:t>Use </a:t>
            </a:r>
            <a:r>
              <a:rPr lang="en-US" b="1" dirty="0"/>
              <a:t>Mean Squared Error (MSE) </a:t>
            </a:r>
            <a:r>
              <a:rPr lang="en-US" dirty="0"/>
              <a:t>and other standard metrics to evaluate model performance.</a:t>
            </a:r>
          </a:p>
          <a:p>
            <a:r>
              <a:rPr lang="en-US" b="1" dirty="0"/>
              <a:t>Address Data Asynchrony: </a:t>
            </a:r>
            <a:r>
              <a:rPr lang="en-US" dirty="0"/>
              <a:t>Develop a robust strategy to handle the </a:t>
            </a:r>
            <a:r>
              <a:rPr lang="en-US" b="1" dirty="0"/>
              <a:t>"ragged edge" </a:t>
            </a:r>
            <a:r>
              <a:rPr lang="en-US" dirty="0"/>
              <a:t>challenge of data availability.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70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2" b="78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Proposed Methodology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985414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B3A4E2-EE14-6419-ACEC-038CC6D0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Regression?</a:t>
            </a:r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D277AC1-3DD4-7DD9-C03B-C7CBFAFFA5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175" y="2056880"/>
            <a:ext cx="7207147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 is a supervised learning technique used to predict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numeric value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modeling relationships between a dependent variable and one or more independent variables.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 in Project: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estimate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 per capita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economic indicators like inflation rate, unemployment rate, trade balance, and education index.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Use Regression?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Captures trends in historical data.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Quantifies impact of each economic factor.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accurate economic forecasting.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Models: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Regression, Random Forest Regressor,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Regressor, Support Vector Regression.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predicted GDP per capita value for given input indicators.</a:t>
            </a:r>
          </a:p>
        </p:txBody>
      </p:sp>
      <p:pic>
        <p:nvPicPr>
          <p:cNvPr id="2053" name="Picture 5" descr="What Is a Regression Model? | IMSL by Perforce">
            <a:extLst>
              <a:ext uri="{FF2B5EF4-FFF2-40B4-BE49-F238E27FC236}">
                <a16:creationId xmlns:a16="http://schemas.microsoft.com/office/drawing/2014/main" id="{A096CC4A-55D4-F05E-4B2A-F27FB0BF6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322" y="2664703"/>
            <a:ext cx="3962503" cy="27428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95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50" r="12850"/>
          <a:stretch/>
        </p:blipFill>
        <p:spPr>
          <a:xfrm>
            <a:off x="446533" y="723899"/>
            <a:ext cx="7498616" cy="5676901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A3C83F56-668A-500C-175B-80F82B3D3E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88</TotalTime>
  <Words>1187</Words>
  <Application>Microsoft Office PowerPoint</Application>
  <PresentationFormat>Widescreen</PresentationFormat>
  <Paragraphs>76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 2</vt:lpstr>
      <vt:lpstr>Custom</vt:lpstr>
      <vt:lpstr>PowerPoint Presentation</vt:lpstr>
      <vt:lpstr>Objectives</vt:lpstr>
      <vt:lpstr>What is gdp per capita? </vt:lpstr>
      <vt:lpstr>Literature Review - I</vt:lpstr>
      <vt:lpstr>Literature Review - I</vt:lpstr>
      <vt:lpstr>Literature Review - II</vt:lpstr>
      <vt:lpstr>Literature Review - II</vt:lpstr>
      <vt:lpstr>Literature Review - III</vt:lpstr>
      <vt:lpstr>Literature Review - III</vt:lpstr>
      <vt:lpstr>Our Interpretation</vt:lpstr>
      <vt:lpstr>Proposed Methodology</vt:lpstr>
      <vt:lpstr>What is Regression?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Hirwani</dc:creator>
  <cp:lastModifiedBy>Ujjwal Hirwani</cp:lastModifiedBy>
  <cp:revision>1</cp:revision>
  <dcterms:created xsi:type="dcterms:W3CDTF">2025-08-10T11:42:00Z</dcterms:created>
  <dcterms:modified xsi:type="dcterms:W3CDTF">2025-09-21T09:30:00Z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